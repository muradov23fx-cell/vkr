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0" r:id="rId3"/>
    <p:sldId id="298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299" r:id="rId12"/>
    <p:sldId id="272" r:id="rId13"/>
    <p:sldId id="257" r:id="rId14"/>
  </p:sldIdLst>
  <p:sldSz cx="24382413" cy="13716000"/>
  <p:notesSz cx="9144000" cy="6858000"/>
  <p:embeddedFontLst>
    <p:embeddedFont>
      <p:font typeface="Nekst Semi Bold" panose="020B0604020202020204" charset="-52"/>
      <p:regular r:id="rId17"/>
      <p:bold r:id="rId18"/>
    </p:embeddedFont>
    <p:embeddedFont>
      <p:font typeface="Tahoma" panose="020B0604030504040204" pitchFamily="34" charset="0"/>
      <p:regular r:id="rId19"/>
      <p:bold r:id="rId20"/>
    </p:embeddedFont>
    <p:embeddedFont>
      <p:font typeface="TT Norms Pro" panose="02000503030000020003" pitchFamily="2" charset="0"/>
      <p:regular r:id="rId21"/>
      <p:bold r:id="rId22"/>
      <p:italic r:id="rId23"/>
      <p:boldItalic r:id="rId24"/>
    </p:embeddedFont>
    <p:embeddedFont>
      <p:font typeface="TT Norms Pro Medium" panose="02000803030000020004" pitchFamily="2" charset="0"/>
      <p:regular r:id="rId25"/>
      <p:italic r:id="rId26"/>
    </p:embeddedFont>
  </p:embeddedFontLst>
  <p:custDataLst>
    <p:tags r:id="rId27"/>
  </p:custDataLst>
  <p:defaultTextStyle>
    <a:defPPr>
      <a:defRPr lang="ru-RU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4483" userDrawn="1">
          <p15:clr>
            <a:srgbClr val="FDE53C"/>
          </p15:clr>
        </p15:guide>
        <p15:guide id="2" orient="horz" pos="4320">
          <p15:clr>
            <a:srgbClr val="A4A3A4"/>
          </p15:clr>
        </p15:guide>
        <p15:guide id="3" pos="1080" userDrawn="1">
          <p15:clr>
            <a:srgbClr val="A4A3A4"/>
          </p15:clr>
        </p15:guide>
        <p15:guide id="4" orient="horz" pos="2211" userDrawn="1">
          <p15:clr>
            <a:srgbClr val="A4A3A4"/>
          </p15:clr>
        </p15:guide>
        <p15:guide id="5" orient="horz" pos="3118" userDrawn="1">
          <p15:clr>
            <a:srgbClr val="A4A3A4"/>
          </p15:clr>
        </p15:guide>
        <p15:guide id="6" pos="7679" userDrawn="1">
          <p15:clr>
            <a:srgbClr val="A4A3A4"/>
          </p15:clr>
        </p15:guide>
        <p15:guide id="7" pos="14279" userDrawn="1">
          <p15:clr>
            <a:srgbClr val="A4A3A4"/>
          </p15:clr>
        </p15:guide>
        <p15:guide id="8" pos="109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маназаров Улугбек Бахтиёр угли" initials="МУБу" lastIdx="4" clrIdx="0">
    <p:extLst>
      <p:ext uri="{19B8F6BF-5375-455C-9EA6-DF929625EA0E}">
        <p15:presenceInfo xmlns:p15="http://schemas.microsoft.com/office/powerpoint/2012/main" userId="S::u.mamanazarov@misis.uz::6ecd85a3-f720-4592-8517-30314c79349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ADC"/>
    <a:srgbClr val="0A1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44" autoAdjust="0"/>
    <p:restoredTop sz="84284" autoAdjust="0"/>
  </p:normalViewPr>
  <p:slideViewPr>
    <p:cSldViewPr snapToGrid="0" showGuides="1">
      <p:cViewPr varScale="1">
        <p:scale>
          <a:sx n="53" d="100"/>
          <a:sy n="53" d="100"/>
        </p:scale>
        <p:origin x="114" y="96"/>
      </p:cViewPr>
      <p:guideLst>
        <p:guide pos="14483"/>
        <p:guide orient="horz" pos="4320"/>
        <p:guide pos="1080"/>
        <p:guide orient="horz" pos="2211"/>
        <p:guide orient="horz" pos="3118"/>
        <p:guide pos="7679"/>
        <p:guide pos="14279"/>
        <p:guide pos="1092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5" d="100"/>
          <a:sy n="115" d="100"/>
        </p:scale>
        <p:origin x="2412" y="84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E1CBF1-C60C-4EA7-9438-ECCB5A729A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7F69102-1B92-4B64-93D3-E2FC181E70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0E9D2-03B7-4D34-909E-97131A1A9D6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3FFDA01-912F-4C56-BD1F-3BD34A49D7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DAD831-CDBD-4828-A97E-33E933156A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AA829-A2DC-444B-90DA-38E455AE08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20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627D-15EB-40F5-AEC0-AD078B3D9203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AC02-5901-4D7E-90A5-4DB54C8C6E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394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54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5185743"/>
            <a:ext cx="9952581" cy="4314960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мероприятия</a:t>
            </a:r>
            <a:br>
              <a:rPr lang="ru-RU" dirty="0"/>
            </a:br>
            <a:r>
              <a:rPr lang="ru-RU" dirty="0"/>
              <a:t>в одну, две</a:t>
            </a:r>
            <a:br>
              <a:rPr lang="ru-RU" dirty="0"/>
            </a:br>
            <a:r>
              <a:rPr lang="ru-RU" dirty="0"/>
              <a:t>или более строк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9569590"/>
            <a:ext cx="9952581" cy="199955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Фамилия Имя Отчество</a:t>
            </a:r>
            <a:br>
              <a:rPr lang="ru-RU" dirty="0"/>
            </a:br>
            <a:r>
              <a:rPr lang="ru-RU" dirty="0"/>
              <a:t>Должность спикера в одну</a:t>
            </a:r>
            <a:br>
              <a:rPr lang="ru-RU" dirty="0"/>
            </a:br>
            <a:r>
              <a:rPr lang="ru-RU" dirty="0"/>
              <a:t>или более строк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56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890843"/>
            <a:ext cx="9952581" cy="2091357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10362149"/>
            <a:ext cx="9952581" cy="121022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Подзаголовок в одну, две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54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362700" y="5147643"/>
            <a:ext cx="12573000" cy="5539407"/>
          </a:xfrm>
        </p:spPr>
        <p:txBody>
          <a:bodyPr anchor="t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</a:t>
            </a:r>
            <a:r>
              <a:rPr lang="ru-RU" dirty="0"/>
              <a:t>Заголовок</a:t>
            </a:r>
            <a:br>
              <a:rPr lang="ru-RU" dirty="0"/>
            </a:br>
            <a:r>
              <a:rPr lang="en-US" dirty="0"/>
              <a:t>       </a:t>
            </a: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620000" y="5147643"/>
            <a:ext cx="12573000" cy="3748707"/>
          </a:xfrm>
        </p:spPr>
        <p:txBody>
          <a:bodyPr anchor="t">
            <a:noAutofit/>
          </a:bodyPr>
          <a:lstStyle>
            <a:lvl1pPr algn="l">
              <a:lnSpc>
                <a:spcPts val="13700"/>
              </a:lnSpc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en-US" dirty="0"/>
            </a:br>
            <a:r>
              <a:rPr lang="en-US" dirty="0"/>
              <a:t>     </a:t>
            </a:r>
            <a:r>
              <a:rPr lang="ru-RU" dirty="0"/>
              <a:t>короткий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0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7" y="2163817"/>
            <a:ext cx="7451784" cy="3130078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7017374"/>
            <a:ext cx="9952581" cy="29929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При наличии может</a:t>
            </a:r>
            <a:br>
              <a:rPr lang="ru-RU" dirty="0"/>
            </a:br>
            <a:r>
              <a:rPr lang="ru-RU" dirty="0"/>
              <a:t>размещаться общая</a:t>
            </a:r>
            <a:br>
              <a:rPr lang="ru-RU" dirty="0"/>
            </a:br>
            <a:r>
              <a:rPr lang="ru-RU" dirty="0"/>
              <a:t>информация данного</a:t>
            </a:r>
            <a:br>
              <a:rPr lang="ru-RU" dirty="0"/>
            </a:br>
            <a:r>
              <a:rPr lang="ru-RU" dirty="0"/>
              <a:t>раздела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06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43794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5787113"/>
            <a:ext cx="10626783" cy="65429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</a:t>
            </a:r>
            <a:br>
              <a:rPr lang="en-US" dirty="0"/>
            </a:br>
            <a:r>
              <a:rPr lang="en-US" dirty="0"/>
              <a:t>of the printing and typesetting industry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Lorem Ipsum has been the industry's</a:t>
            </a:r>
            <a:br>
              <a:rPr lang="en-US" dirty="0"/>
            </a:br>
            <a:r>
              <a:rPr lang="en-US" dirty="0"/>
              <a:t>standard dummy text ever since the 1500s, when an unknown printer took a galley</a:t>
            </a:r>
            <a:br>
              <a:rPr lang="en-US" dirty="0"/>
            </a:br>
            <a:r>
              <a:rPr lang="en-US" dirty="0"/>
              <a:t>of type and scrambled it to make a type</a:t>
            </a:r>
            <a:br>
              <a:rPr lang="en-US" dirty="0"/>
            </a:br>
            <a:r>
              <a:rPr lang="en-US" dirty="0"/>
              <a:t>specimen book</a:t>
            </a:r>
            <a:endParaRPr lang="ru-RU" dirty="0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8060989" y="9152022"/>
            <a:ext cx="4930774" cy="5935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0989" y="9745579"/>
            <a:ext cx="4930774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is simply dummy text</a:t>
            </a:r>
            <a:br>
              <a:rPr lang="en-US" dirty="0"/>
            </a:br>
            <a:r>
              <a:rPr lang="en-US" dirty="0"/>
              <a:t>Lorem Ipsum is simply 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5878842" y="8839203"/>
            <a:ext cx="2120397" cy="22699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72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6050292" y="4474746"/>
            <a:ext cx="7362158" cy="2478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«Хотел бы отметить особую роль НИТУ «</a:t>
            </a:r>
            <a:r>
              <a:rPr lang="ru-RU" dirty="0" err="1"/>
              <a:t>МИСиС</a:t>
            </a:r>
            <a:r>
              <a:rPr lang="ru-RU" dirty="0"/>
              <a:t>»</a:t>
            </a:r>
            <a:br>
              <a:rPr lang="ru-RU" dirty="0"/>
            </a:br>
            <a:r>
              <a:rPr lang="ru-RU" dirty="0"/>
              <a:t>в подготовке специалистов для предприятий ОМК.</a:t>
            </a:r>
            <a:br>
              <a:rPr lang="ru-RU" dirty="0"/>
            </a:br>
            <a:r>
              <a:rPr lang="ru-RU" dirty="0"/>
              <a:t>Блестящее качество образования и глубина знаний</a:t>
            </a:r>
            <a:br>
              <a:rPr lang="ru-RU" dirty="0"/>
            </a:br>
            <a:r>
              <a:rPr lang="ru-RU" dirty="0"/>
              <a:t>наших сотрудников, уникальные учебные программы</a:t>
            </a:r>
            <a:br>
              <a:rPr lang="ru-RU" dirty="0"/>
            </a:br>
            <a:r>
              <a:rPr lang="ru-RU" dirty="0"/>
              <a:t>университета, в том числе разработанные специально</a:t>
            </a:r>
            <a:br>
              <a:rPr lang="ru-RU" dirty="0"/>
            </a:br>
            <a:r>
              <a:rPr lang="ru-RU" dirty="0"/>
              <a:t>для нас, — один из главных факторов успеха ОМК»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6050292" y="7110162"/>
            <a:ext cx="7362158" cy="3093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Анатолий Седых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6050292" y="7382126"/>
            <a:ext cx="736215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Председатель правления АО «ОМК».</a:t>
            </a:r>
            <a:br>
              <a:rPr lang="ru-RU" dirty="0"/>
            </a:br>
            <a:r>
              <a:rPr lang="ru-RU" dirty="0"/>
              <a:t>Выпускник МИСИС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 userDrawn="1">
          <p15:clr>
            <a:srgbClr val="FBAE40"/>
          </p15:clr>
        </p15:guide>
        <p15:guide id="16" orient="horz" pos="55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737165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3760060"/>
            <a:ext cx="8461710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 dummy</a:t>
            </a:r>
            <a:br>
              <a:rPr lang="en-US" dirty="0"/>
            </a:br>
            <a:r>
              <a:rPr lang="en-US" dirty="0"/>
              <a:t>text of the printing and typesetting</a:t>
            </a:r>
            <a:br>
              <a:rPr lang="en-US" dirty="0"/>
            </a:br>
            <a:r>
              <a:rPr lang="en-US" dirty="0"/>
              <a:t>industry. Lorem Ipsum has been</a:t>
            </a:r>
            <a:br>
              <a:rPr lang="en-US" dirty="0"/>
            </a:br>
            <a:r>
              <a:rPr lang="en-US" dirty="0"/>
              <a:t>the industry's standard dummy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63313" y="7655253"/>
            <a:ext cx="10682129" cy="4674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 </a:t>
            </a:r>
          </a:p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23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672908"/>
            <a:ext cx="7129868" cy="24785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548418"/>
            <a:ext cx="7129868" cy="27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820381"/>
            <a:ext cx="712986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47487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5990107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115</a:t>
            </a:r>
            <a:endParaRPr lang="ru-RU" dirty="0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19722471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9665091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82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2030650"/>
            <a:ext cx="6956483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</a:t>
            </a:r>
            <a:br>
              <a:rPr lang="en-US" dirty="0"/>
            </a:br>
            <a:r>
              <a:rPr lang="en-US" dirty="0"/>
              <a:t>dummy text of the printing and typesetting industry</a:t>
            </a:r>
          </a:p>
          <a:p>
            <a:pPr lvl="0"/>
            <a:r>
              <a:rPr lang="en-US" dirty="0"/>
              <a:t>Lorem Ipsum has been</a:t>
            </a:r>
            <a:br>
              <a:rPr lang="en-US" dirty="0"/>
            </a:br>
            <a:r>
              <a:rPr lang="en-US" dirty="0"/>
              <a:t>the industry's standard dummy text ever since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47575" y="8534188"/>
            <a:ext cx="10738355" cy="9566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Lorem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3744860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1707008"/>
            <a:ext cx="3749905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096435"/>
            <a:ext cx="6135954" cy="287550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309875"/>
            <a:ext cx="6956484" cy="2719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581838"/>
            <a:ext cx="6956484" cy="8291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Название презентации в одну или несколько строк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4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63313" y="9448799"/>
            <a:ext cx="10738355" cy="2900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</a:t>
            </a:r>
            <a:br>
              <a:rPr lang="en-US" dirty="0"/>
            </a:br>
            <a:r>
              <a:rPr lang="en-US" dirty="0"/>
              <a:t>printing and typesetting industry Lorem Ipsum has been the industry's standard dummy text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56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err="1">
                <a:solidFill>
                  <a:schemeClr val="bg1"/>
                </a:solidFill>
              </a:rPr>
              <a:t>atpp.digital</a:t>
            </a:r>
            <a:endParaRPr lang="ru-RU" sz="16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4F34011-5FD3-49B7-897D-17F6D9C974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897" t="14416" r="6000" b="15930"/>
          <a:stretch/>
        </p:blipFill>
        <p:spPr>
          <a:xfrm>
            <a:off x="960119" y="731520"/>
            <a:ext cx="2002537" cy="79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26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lang="ru-RU" dirty="0"/>
            </a:br>
            <a:r>
              <a:rPr lang="ru-RU" dirty="0"/>
              <a:t>с целью создания и освоения </a:t>
            </a:r>
            <a:br>
              <a:rPr lang="ru-RU" dirty="0"/>
            </a:br>
            <a:r>
              <a:rPr lang="ru-RU" dirty="0"/>
              <a:t>новых технологий, становления </a:t>
            </a:r>
            <a:br>
              <a:rPr lang="ru-RU" dirty="0"/>
            </a:br>
            <a:r>
              <a:rPr lang="ru-RU" dirty="0"/>
              <a:t>и развития научных школ</a:t>
            </a:r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338232" y="7037794"/>
            <a:ext cx="6897051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Достижения науки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7037794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Научное сообщество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4389" y="7037793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События отрасли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8674101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lang="ru-RU" dirty="0"/>
            </a:br>
            <a:r>
              <a:rPr lang="ru-RU" dirty="0"/>
              <a:t>в целом, способствует правовой охране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5499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Информация о реализуемых образовательных программах,</a:t>
            </a:r>
            <a:br>
              <a:rPr lang="ru-RU" dirty="0"/>
            </a:br>
            <a:r>
              <a:rPr lang="ru-RU" dirty="0"/>
              <a:t>в том числе о реализуемых адаптированных образователь-</a:t>
            </a:r>
            <a:br>
              <a:rPr lang="ru-RU" dirty="0"/>
            </a:br>
            <a:r>
              <a:rPr lang="ru-RU" dirty="0" err="1"/>
              <a:t>ных</a:t>
            </a:r>
            <a:r>
              <a:rPr lang="ru-RU" dirty="0"/>
              <a:t> программах, с указанием </a:t>
            </a:r>
            <a:br>
              <a:rPr lang="ru-RU" dirty="0"/>
            </a:br>
            <a:r>
              <a:rPr lang="ru-RU" dirty="0"/>
              <a:t>в отношении каждой </a:t>
            </a:r>
            <a:r>
              <a:rPr lang="ru-RU" dirty="0" err="1"/>
              <a:t>образо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 err="1"/>
              <a:t>вательной</a:t>
            </a:r>
            <a:r>
              <a:rPr lang="ru-RU" dirty="0"/>
              <a:t>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4776190"/>
            <a:ext cx="2217600" cy="1839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351" y="4599790"/>
            <a:ext cx="1764000" cy="201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0" y="4401790"/>
            <a:ext cx="1924670" cy="22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4572755"/>
            <a:ext cx="10627535" cy="77002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tx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has been the industry's standard dummy text ever since the 1500s, when an unknown printer took a galley </a:t>
            </a:r>
            <a:br>
              <a:rPr lang="en-US" dirty="0"/>
            </a:br>
            <a:r>
              <a:rPr lang="en-US" dirty="0"/>
              <a:t>of type and scrambled it to make a type </a:t>
            </a:r>
            <a:br>
              <a:rPr lang="en-US" dirty="0"/>
            </a:br>
            <a:r>
              <a:rPr lang="en-US" dirty="0"/>
              <a:t>specimen book. It has survived not only </a:t>
            </a:r>
            <a:br>
              <a:rPr lang="en-US" dirty="0"/>
            </a:br>
            <a:r>
              <a:rPr lang="en-US" dirty="0"/>
              <a:t>five centuries, but also the leap into electronic typesetting, remaining essentially unchanged. It was </a:t>
            </a:r>
            <a:r>
              <a:rPr lang="en-US" dirty="0" err="1"/>
              <a:t>popularised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35339" y="5373052"/>
            <a:ext cx="6937374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1-е место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35946" y="6648450"/>
            <a:ext cx="6936767" cy="33147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 err="1"/>
              <a:t>cреди</a:t>
            </a:r>
            <a:r>
              <a:rPr lang="ru-RU" dirty="0"/>
              <a:t> вузов Проекта 5–100 </a:t>
            </a:r>
            <a:br>
              <a:rPr lang="ru-RU" dirty="0"/>
            </a:br>
            <a:r>
              <a:rPr lang="ru-RU" dirty="0"/>
              <a:t>по количеству публикаций </a:t>
            </a:r>
            <a:br>
              <a:rPr lang="ru-RU" dirty="0"/>
            </a:br>
            <a:r>
              <a:rPr lang="ru-RU" dirty="0"/>
              <a:t>в материаловедении </a:t>
            </a:r>
            <a:br>
              <a:rPr lang="ru-RU" dirty="0"/>
            </a:br>
            <a:r>
              <a:rPr lang="ru-RU" dirty="0"/>
              <a:t>в журналах первого квартиля по SNIP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279" y="5430202"/>
            <a:ext cx="2167200" cy="1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655320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is simply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4" name="Текст 6"/>
          <p:cNvSpPr>
            <a:spLocks noGrp="1"/>
          </p:cNvSpPr>
          <p:nvPr>
            <p:ph type="body" sz="quarter" idx="26" hasCustomPrompt="1"/>
          </p:nvPr>
        </p:nvSpPr>
        <p:spPr>
          <a:xfrm>
            <a:off x="1297765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5" y="969264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878612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29" hasCustomPrompt="1"/>
          </p:nvPr>
        </p:nvSpPr>
        <p:spPr>
          <a:xfrm>
            <a:off x="12364228" y="6553200"/>
            <a:ext cx="10627535" cy="51968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lang="en-US" dirty="0"/>
            </a:br>
            <a:r>
              <a:rPr lang="en-US" dirty="0"/>
              <a:t>It has survived not only five centuries</a:t>
            </a:r>
          </a:p>
        </p:txBody>
      </p:sp>
      <p:sp>
        <p:nvSpPr>
          <p:cNvPr id="25" name="Текст 6"/>
          <p:cNvSpPr>
            <a:spLocks noGrp="1"/>
          </p:cNvSpPr>
          <p:nvPr>
            <p:ph type="body" sz="quarter" idx="30" hasCustomPrompt="1"/>
          </p:nvPr>
        </p:nvSpPr>
        <p:spPr>
          <a:xfrm>
            <a:off x="12364228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</p:spTree>
    <p:extLst>
      <p:ext uri="{BB962C8B-B14F-4D97-AF65-F5344CB8AC3E}">
        <p14:creationId xmlns:p14="http://schemas.microsoft.com/office/powerpoint/2010/main" val="76621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6" y="5697107"/>
            <a:ext cx="9217834" cy="50769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4790588"/>
            <a:ext cx="92178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4370696"/>
            <a:ext cx="3749905" cy="20974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6468184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51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7281725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8328993"/>
            <a:ext cx="14312959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 printing and</a:t>
            </a:r>
            <a:br>
              <a:rPr lang="en-US" dirty="0"/>
            </a:br>
            <a:r>
              <a:rPr lang="en-US" dirty="0"/>
              <a:t>typesetting industry. Lorem Ipsum has been the industry's</a:t>
            </a:r>
            <a:br>
              <a:rPr lang="en-US" dirty="0"/>
            </a:br>
            <a:r>
              <a:rPr lang="en-US" dirty="0"/>
              <a:t>standard dummy text ever since the 1500s, when </a:t>
            </a:r>
            <a:br>
              <a:rPr lang="en-US" dirty="0"/>
            </a:br>
            <a:r>
              <a:rPr lang="en-US" dirty="0"/>
              <a:t>an unknown printer took a galley of type and scrambled</a:t>
            </a:r>
            <a:br>
              <a:rPr lang="en-US" dirty="0"/>
            </a:br>
            <a:r>
              <a:rPr lang="en-US" dirty="0"/>
              <a:t>it to make a type specimen book</a:t>
            </a:r>
            <a:endParaRPr lang="ru-RU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7" y="4572001"/>
            <a:ext cx="10626784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Стратегической целью НИТУ «МИСИС», согласно </a:t>
            </a:r>
            <a:br>
              <a:rPr lang="ru-RU" dirty="0"/>
            </a:br>
            <a:r>
              <a:rPr lang="ru-RU" dirty="0"/>
              <a:t>участию в Проекте «5–100», является вхождение </a:t>
            </a:r>
            <a:br>
              <a:rPr lang="ru-RU" dirty="0"/>
            </a:br>
            <a:r>
              <a:rPr lang="ru-RU" dirty="0"/>
              <a:t>и закрепление в числе ведущих мировых университетов </a:t>
            </a:r>
            <a:br>
              <a:rPr lang="ru-RU" dirty="0"/>
            </a:br>
            <a:r>
              <a:rPr lang="ru-RU" dirty="0"/>
              <a:t>по основным международным рейтингам (THE, QS), </a:t>
            </a:r>
            <a:br>
              <a:rPr lang="ru-RU" dirty="0"/>
            </a:br>
            <a:r>
              <a:rPr lang="ru-RU" dirty="0"/>
              <a:t>за счёт фундаментальных и прикладных исследований мирового уровня в материаловедении, нано- и </a:t>
            </a:r>
            <a:r>
              <a:rPr lang="ru-RU" dirty="0" err="1"/>
              <a:t>био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/>
              <a:t>технологиях, металлургии и горном деле.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4943270" y="8909945"/>
            <a:ext cx="6982029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ТОП-10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4956411" y="10189483"/>
            <a:ext cx="6968889" cy="13796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spc="-70" baseline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Среди лучших вузов России, </a:t>
            </a:r>
            <a:br>
              <a:rPr lang="ru-RU" dirty="0"/>
            </a:br>
            <a:r>
              <a:rPr lang="ru-RU" dirty="0"/>
              <a:t>по версии «Интерфакс»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81" y="9141922"/>
            <a:ext cx="2286000" cy="18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0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</p:spTree>
    <p:extLst>
      <p:ext uri="{BB962C8B-B14F-4D97-AF65-F5344CB8AC3E}">
        <p14:creationId xmlns:p14="http://schemas.microsoft.com/office/powerpoint/2010/main" val="252269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4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368" y="3512130"/>
            <a:ext cx="3259345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Таблица 2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7804" y="3512131"/>
            <a:ext cx="6937374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Сопроводительный текст</a:t>
            </a:r>
            <a:br>
              <a:rPr lang="ru-RU" dirty="0"/>
            </a:br>
            <a:r>
              <a:rPr lang="ru-RU" dirty="0"/>
              <a:t>к данной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1398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98516" y="10086693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Ленинский проспект, д. 4</a:t>
            </a:r>
            <a:br>
              <a:rPr lang="ru-RU" dirty="0"/>
            </a:br>
            <a:r>
              <a:rPr lang="ru-RU" dirty="0"/>
              <a:t>Москва, 119049</a:t>
            </a:r>
            <a:br>
              <a:rPr lang="ru-RU" dirty="0"/>
            </a:br>
            <a:r>
              <a:rPr lang="ru-RU" dirty="0"/>
              <a:t>тел. +7 (495) 955-00-32</a:t>
            </a:r>
            <a:br>
              <a:rPr lang="ru-RU" dirty="0"/>
            </a:br>
            <a:r>
              <a:rPr lang="ru-RU" dirty="0"/>
              <a:t>e-</a:t>
            </a:r>
            <a:r>
              <a:rPr lang="ru-RU" dirty="0" err="1"/>
              <a:t>mail</a:t>
            </a:r>
            <a:r>
              <a:rPr lang="ru-RU" dirty="0"/>
              <a:t>: kancela@misis.ru</a:t>
            </a:r>
            <a:br>
              <a:rPr lang="ru-RU" dirty="0"/>
            </a:br>
            <a:r>
              <a:rPr lang="ru-RU" dirty="0"/>
              <a:t>misis.ru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184650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5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Название презентации в одну или несколько строк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E2A4-72D4-4DC4-9470-54C0EE06E41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53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</p:sldLayoutIdLst>
  <p:hf hd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terial">
            <a:hlinkClick r:id="" action="ppaction://media"/>
            <a:extLst>
              <a:ext uri="{FF2B5EF4-FFF2-40B4-BE49-F238E27FC236}">
                <a16:creationId xmlns:a16="http://schemas.microsoft.com/office/drawing/2014/main" id="{FB504B1E-0B20-400F-9A47-5CDA1DC7A5B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>
                  <p14:fade in="500" out="250"/>
                </p14:media>
              </p:ext>
            </p:extLst>
          </p:nvPr>
        </p:nvPicPr>
        <p:blipFill>
          <a:blip r:embed="rId4">
            <a:lum bright="-20000"/>
          </a:blip>
          <a:stretch>
            <a:fillRect/>
          </a:stretch>
        </p:blipFill>
        <p:spPr>
          <a:xfrm>
            <a:off x="-29396" y="-17756"/>
            <a:ext cx="24415567" cy="13733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344583" y="5185743"/>
            <a:ext cx="21693247" cy="4314960"/>
          </a:xfrm>
        </p:spPr>
        <p:txBody>
          <a:bodyPr/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V-МОЛОДЕЖНАЯ</a:t>
            </a:r>
            <a:b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НАУЧНО-ПРАКТИЧЕСКАЯ КОНФЕРЕНЦИЯ</a:t>
            </a:r>
            <a:b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«НАУКА И МОЛОДЕЖЬ – 2025»</a:t>
            </a:r>
            <a:b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15-16 апреля 2025 г.</a:t>
            </a:r>
            <a:endParaRPr lang="ru-RU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CF943A-C252-4500-9038-88DC692F7F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Фамилия Имя Отчество</a:t>
            </a:r>
          </a:p>
          <a:p>
            <a:r>
              <a:rPr lang="ru-RU" dirty="0"/>
              <a:t>«академическая группа», «курс»</a:t>
            </a:r>
          </a:p>
          <a:p>
            <a:r>
              <a:rPr lang="ru-RU" dirty="0"/>
              <a:t>Кафедра «</a:t>
            </a:r>
            <a:r>
              <a:rPr lang="ru-RU" dirty="0" err="1"/>
              <a:t>ИТиАТПП</a:t>
            </a:r>
            <a:r>
              <a:rPr lang="ru-RU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89716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2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Номер слайда 17"/>
          <p:cNvSpPr>
            <a:spLocks noGrp="1"/>
          </p:cNvSpPr>
          <p:nvPr>
            <p:ph type="sldNum" sz="quarter" idx="4294967295"/>
          </p:nvPr>
        </p:nvSpPr>
        <p:spPr>
          <a:xfrm>
            <a:off x="19812000" y="12630986"/>
            <a:ext cx="3289668" cy="730250"/>
          </a:xfrm>
        </p:spPr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4C7B23-5C0B-4440-944A-97ACE3829527}"/>
              </a:ext>
            </a:extLst>
          </p:cNvPr>
          <p:cNvSpPr txBox="1"/>
          <p:nvPr/>
        </p:nvSpPr>
        <p:spPr>
          <a:xfrm>
            <a:off x="1390650" y="4753420"/>
            <a:ext cx="21601113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5400" b="1" dirty="0">
              <a:solidFill>
                <a:schemeClr val="bg1"/>
              </a:solidFill>
              <a:latin typeface="TT Norms Pro" panose="020005030300000200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sz="4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ВЫПУСКНАЯ КВАЛИФИКАЦИОННАЯ РАБОТА</a:t>
            </a:r>
          </a:p>
          <a:p>
            <a:pPr algn="ctr"/>
            <a:endParaRPr lang="ru-RU" sz="5400" b="1" dirty="0">
              <a:solidFill>
                <a:schemeClr val="bg1"/>
              </a:solidFill>
              <a:latin typeface="TT Norms Pro" panose="020005030300000200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sz="5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«Тема вашей ВКР»</a:t>
            </a:r>
          </a:p>
          <a:p>
            <a:pPr algn="ctr"/>
            <a:endParaRPr lang="ru-RU" sz="5400" b="1" dirty="0">
              <a:solidFill>
                <a:schemeClr val="bg1"/>
              </a:solidFill>
              <a:latin typeface="TT Norms Pro" panose="020005030300000200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5400" b="1" dirty="0">
              <a:solidFill>
                <a:schemeClr val="bg1"/>
              </a:solidFill>
              <a:latin typeface="TT Norms Pro" panose="020005030300000200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5400" b="1" dirty="0">
              <a:solidFill>
                <a:schemeClr val="bg1"/>
              </a:solidFill>
              <a:latin typeface="TT Norms Pro" panose="020005030300000200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4400" b="1" dirty="0">
              <a:solidFill>
                <a:schemeClr val="bg1"/>
              </a:solidFill>
              <a:latin typeface="TT Norms Pro" panose="020005030300000200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Автор: ФИО, курс, группа</a:t>
            </a:r>
          </a:p>
          <a:p>
            <a:r>
              <a:rPr lang="ru-RU" sz="2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Научный руководитель: учёная степень, учёное звание </a:t>
            </a:r>
            <a:r>
              <a:rPr lang="en-US" sz="2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uz-Cyrl-UZ" sz="2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должность</a:t>
            </a:r>
            <a:r>
              <a:rPr lang="en-US" sz="2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]</a:t>
            </a:r>
            <a:r>
              <a:rPr lang="ru-RU" sz="2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, ФИО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C9066-2AF4-07C1-9781-923527EF7B4C}"/>
              </a:ext>
            </a:extLst>
          </p:cNvPr>
          <p:cNvSpPr txBox="1"/>
          <p:nvPr/>
        </p:nvSpPr>
        <p:spPr>
          <a:xfrm>
            <a:off x="1390650" y="712109"/>
            <a:ext cx="2160111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Филиал Национального исследовательского технологического университета «МИСИС» </a:t>
            </a:r>
          </a:p>
          <a:p>
            <a:pPr algn="ctr"/>
            <a:r>
              <a:rPr lang="ru-RU" sz="32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в г. Алмалык Республики Узбекистан</a:t>
            </a:r>
          </a:p>
          <a:p>
            <a:pPr algn="ctr"/>
            <a:r>
              <a:rPr lang="ru-RU" sz="32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Кафедра «Информационные технологии и автоматизация технологических процессов и производств»</a:t>
            </a:r>
          </a:p>
          <a:p>
            <a:endParaRPr lang="ru-RU" sz="3200" b="1" dirty="0">
              <a:solidFill>
                <a:schemeClr val="bg1"/>
              </a:solidFill>
              <a:latin typeface="TT Norms Pro" panose="020005030300000200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ru-RU" sz="2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Направление подготовки: 15.03.04 – Автоматизация технологических процессов и производств</a:t>
            </a:r>
          </a:p>
          <a:p>
            <a:pPr algn="ctr"/>
            <a:r>
              <a:rPr lang="ru-RU" sz="2400" b="1" dirty="0">
                <a:solidFill>
                  <a:schemeClr val="bg1"/>
                </a:solidFill>
                <a:latin typeface="TT Norms Pro" panose="02000503030000020003" pitchFamily="2" charset="0"/>
                <a:ea typeface="Tahoma" panose="020B0604030504040204" pitchFamily="34" charset="0"/>
                <a:cs typeface="Tahoma" panose="020B0604030504040204" pitchFamily="34" charset="0"/>
              </a:rPr>
              <a:t>Профиль подготовки:  Автоматизированные системы в производственной сфере</a:t>
            </a:r>
            <a:endParaRPr lang="ru-RU" sz="1800" b="1" dirty="0">
              <a:solidFill>
                <a:schemeClr val="bg1"/>
              </a:solidFill>
              <a:latin typeface="TT Norms Pro" panose="02000503030000020003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DACE00F-54E4-16FB-51F9-B359AE95C93C}"/>
              </a:ext>
            </a:extLst>
          </p:cNvPr>
          <p:cNvCxnSpPr>
            <a:cxnSpLocks/>
          </p:cNvCxnSpPr>
          <p:nvPr/>
        </p:nvCxnSpPr>
        <p:spPr>
          <a:xfrm>
            <a:off x="1390650" y="2491635"/>
            <a:ext cx="216011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08E625E-ED11-F370-674B-9AFB9FC88EF1}"/>
              </a:ext>
            </a:extLst>
          </p:cNvPr>
          <p:cNvSpPr txBox="1"/>
          <p:nvPr/>
        </p:nvSpPr>
        <p:spPr>
          <a:xfrm>
            <a:off x="6094476" y="12917347"/>
            <a:ext cx="12188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г. Алмалык, 2025 г.</a:t>
            </a:r>
          </a:p>
        </p:txBody>
      </p:sp>
    </p:spTree>
    <p:extLst>
      <p:ext uri="{BB962C8B-B14F-4D97-AF65-F5344CB8AC3E}">
        <p14:creationId xmlns:p14="http://schemas.microsoft.com/office/powerpoint/2010/main" val="255248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A6984-7397-4B00-B647-EF80C91E8283}"/>
              </a:ext>
            </a:extLst>
          </p:cNvPr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200" b="1" dirty="0">
                <a:solidFill>
                  <a:schemeClr val="bg1"/>
                </a:solidFill>
              </a:rPr>
              <a:t>ОБЩИЕ ПОЛОЖЕНИЯ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BD578-FA70-44A3-9D64-C40EB6EE1856}"/>
              </a:ext>
            </a:extLst>
          </p:cNvPr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CFD2-A065-43DB-A303-2DCE37715EAB}"/>
              </a:ext>
            </a:extLst>
          </p:cNvPr>
          <p:cNvSpPr txBox="1"/>
          <p:nvPr/>
        </p:nvSpPr>
        <p:spPr>
          <a:xfrm>
            <a:off x="1733550" y="4127087"/>
            <a:ext cx="2093515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6000" b="1" i="1" dirty="0">
                <a:solidFill>
                  <a:srgbClr val="00B0F0"/>
                </a:solidFill>
              </a:rPr>
              <a:t>Блоки второго слайда:</a:t>
            </a:r>
          </a:p>
          <a:p>
            <a:pPr algn="just"/>
            <a:endParaRPr lang="ru-RU" sz="6000" b="1" i="1" dirty="0">
              <a:solidFill>
                <a:srgbClr val="00B0F0"/>
              </a:solidFill>
            </a:endParaRPr>
          </a:p>
          <a:p>
            <a:pPr algn="just"/>
            <a:r>
              <a:rPr lang="ru-RU" sz="6000" b="1" dirty="0">
                <a:solidFill>
                  <a:schemeClr val="bg1"/>
                </a:solidFill>
              </a:rPr>
              <a:t>1. Актуальность работы</a:t>
            </a:r>
          </a:p>
          <a:p>
            <a:pPr algn="just"/>
            <a:r>
              <a:rPr lang="ru-RU" sz="6000" b="1" dirty="0">
                <a:solidFill>
                  <a:schemeClr val="bg1"/>
                </a:solidFill>
              </a:rPr>
              <a:t>2. Цель исследования</a:t>
            </a:r>
          </a:p>
          <a:p>
            <a:pPr algn="just"/>
            <a:r>
              <a:rPr lang="ru-RU" sz="6000" b="1" dirty="0">
                <a:solidFill>
                  <a:schemeClr val="bg1"/>
                </a:solidFill>
              </a:rPr>
              <a:t>3. Задачи исследования</a:t>
            </a:r>
          </a:p>
          <a:p>
            <a:pPr algn="just"/>
            <a:r>
              <a:rPr lang="ru-RU" sz="6000" b="1" dirty="0">
                <a:solidFill>
                  <a:schemeClr val="bg1"/>
                </a:solidFill>
              </a:rPr>
              <a:t>4. Объект и предмет исследования</a:t>
            </a:r>
          </a:p>
          <a:p>
            <a:pPr algn="just"/>
            <a:r>
              <a:rPr lang="ru-RU" sz="6000" b="1" dirty="0">
                <a:solidFill>
                  <a:schemeClr val="bg1"/>
                </a:solidFill>
              </a:rPr>
              <a:t>5. Методы исследования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61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A6984-7397-4B00-B647-EF80C91E8283}"/>
              </a:ext>
            </a:extLst>
          </p:cNvPr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200" b="1" dirty="0">
                <a:solidFill>
                  <a:schemeClr val="bg1"/>
                </a:solidFill>
              </a:rPr>
              <a:t>ОБЗОР И АНАЛИЗ СУЩЕСТВУЮЩИХ РЕШЕНИЙ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BD578-FA70-44A3-9D64-C40EB6EE1856}"/>
              </a:ext>
            </a:extLst>
          </p:cNvPr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CFD2-A065-43DB-A303-2DCE37715EAB}"/>
              </a:ext>
            </a:extLst>
          </p:cNvPr>
          <p:cNvSpPr txBox="1"/>
          <p:nvPr/>
        </p:nvSpPr>
        <p:spPr>
          <a:xfrm>
            <a:off x="1733550" y="4127087"/>
            <a:ext cx="20935156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6000" b="1" i="1" dirty="0">
                <a:solidFill>
                  <a:srgbClr val="00B0F0"/>
                </a:solidFill>
              </a:rPr>
              <a:t>Блоки третьего слайда:</a:t>
            </a:r>
          </a:p>
          <a:p>
            <a:pPr algn="just"/>
            <a:endParaRPr lang="ru-RU" sz="6000" b="1" i="1" dirty="0">
              <a:solidFill>
                <a:srgbClr val="00B0F0"/>
              </a:solidFill>
            </a:endParaRP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Ключевые источники 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авторы и публикации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основные направления развития темы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Современные методы и технологии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краткое описание 2–3 подходов (алгоритмов, систем, инструментов)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Преимущества и ограничения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что даёт каждый подход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какие проблемы пока не решены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Вывод по обзору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на чём основывается ваша работа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какие «пробелы» вы собираетесь заполнить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37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A6984-7397-4B00-B647-EF80C91E8283}"/>
              </a:ext>
            </a:extLst>
          </p:cNvPr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200" b="1" dirty="0">
                <a:solidFill>
                  <a:schemeClr val="bg1"/>
                </a:solidFill>
              </a:rPr>
              <a:t>ПОСТАНОВКА ЗАДАЧИ И ОБЩАЯ АРХИТЕКТУРА РЕШЕНИЯ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BD578-FA70-44A3-9D64-C40EB6EE1856}"/>
              </a:ext>
            </a:extLst>
          </p:cNvPr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CFD2-A065-43DB-A303-2DCE37715EAB}"/>
              </a:ext>
            </a:extLst>
          </p:cNvPr>
          <p:cNvSpPr txBox="1"/>
          <p:nvPr/>
        </p:nvSpPr>
        <p:spPr>
          <a:xfrm>
            <a:off x="1733550" y="4127087"/>
            <a:ext cx="2093515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6000" b="1" i="1" dirty="0">
                <a:solidFill>
                  <a:srgbClr val="00B0F0"/>
                </a:solidFill>
              </a:rPr>
              <a:t>Блоки четвёртого слайда:</a:t>
            </a:r>
          </a:p>
          <a:p>
            <a:pPr algn="just"/>
            <a:endParaRPr lang="ru-RU" sz="6000" b="1" i="1" dirty="0">
              <a:solidFill>
                <a:srgbClr val="00B0F0"/>
              </a:solidFill>
            </a:endParaRP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Описание объекта автоматизации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кратко: технологическая линия / процесс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Цель проектной части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чего именно нужно достичь (повышение эффективности, снижение потерь и т. п.)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Требования к системе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функциональные (что система должна делать)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нефункциональные (надёжность, быстродействие)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Общая схема / блок-диаграмма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показаны основные модули: датчики, контроллер, HMI, база данных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598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A6984-7397-4B00-B647-EF80C91E8283}"/>
              </a:ext>
            </a:extLst>
          </p:cNvPr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200" b="1" dirty="0">
                <a:solidFill>
                  <a:schemeClr val="bg1"/>
                </a:solidFill>
              </a:rPr>
              <a:t>ТЕХНИЧЕСКОЕ РЕШЕНИЕ И РЕАЛИЗАЦИЯ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BD578-FA70-44A3-9D64-C40EB6EE1856}"/>
              </a:ext>
            </a:extLst>
          </p:cNvPr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CFD2-A065-43DB-A303-2DCE37715EAB}"/>
              </a:ext>
            </a:extLst>
          </p:cNvPr>
          <p:cNvSpPr txBox="1"/>
          <p:nvPr/>
        </p:nvSpPr>
        <p:spPr>
          <a:xfrm>
            <a:off x="1733550" y="4127087"/>
            <a:ext cx="20935156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6000" b="1" i="1" dirty="0">
                <a:solidFill>
                  <a:srgbClr val="00B0F0"/>
                </a:solidFill>
              </a:rPr>
              <a:t>Блоки пятого слайда:</a:t>
            </a:r>
          </a:p>
          <a:p>
            <a:pPr algn="just"/>
            <a:endParaRPr lang="ru-RU" sz="6000" b="1" i="1" dirty="0">
              <a:solidFill>
                <a:srgbClr val="00B0F0"/>
              </a:solidFill>
            </a:endParaRP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Выбранные методы и инструменты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ПЛК/SCADA, языки программирования, ПО (например, </a:t>
            </a:r>
            <a:r>
              <a:rPr lang="ru-RU" sz="4000" b="1" dirty="0" err="1">
                <a:solidFill>
                  <a:schemeClr val="bg1"/>
                </a:solidFill>
              </a:rPr>
              <a:t>Codesys</a:t>
            </a:r>
            <a:r>
              <a:rPr lang="ru-RU" sz="4000" b="1" dirty="0">
                <a:solidFill>
                  <a:schemeClr val="bg1"/>
                </a:solidFill>
              </a:rPr>
              <a:t>, Python, SQL)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Алгоритмическая часть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кратко: алгоритм управления / сбора данных / обработки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Аппаратная составляющая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перечень используемых датчиков, контроллеров, коммуникационных модулей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Этапы внедрения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– моделирование → отладка → пилотный запуск → интеграция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344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A6984-7397-4B00-B647-EF80C91E8283}"/>
              </a:ext>
            </a:extLst>
          </p:cNvPr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200" b="1" dirty="0">
                <a:solidFill>
                  <a:schemeClr val="bg1"/>
                </a:solidFill>
              </a:rPr>
              <a:t>МАТЕМАТИЧЕСКОЕ МОДЕЛИРОВАНИЕ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BD578-FA70-44A3-9D64-C40EB6EE1856}"/>
              </a:ext>
            </a:extLst>
          </p:cNvPr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CFD2-A065-43DB-A303-2DCE37715EAB}"/>
              </a:ext>
            </a:extLst>
          </p:cNvPr>
          <p:cNvSpPr txBox="1"/>
          <p:nvPr/>
        </p:nvSpPr>
        <p:spPr>
          <a:xfrm>
            <a:off x="1733550" y="4127087"/>
            <a:ext cx="20935156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6000" b="1" i="1" dirty="0">
                <a:solidFill>
                  <a:srgbClr val="00B0F0"/>
                </a:solidFill>
              </a:rPr>
              <a:t>Блоки шестого слайда:</a:t>
            </a:r>
          </a:p>
          <a:p>
            <a:pPr algn="just"/>
            <a:endParaRPr lang="ru-RU" sz="6000" b="1" i="1" dirty="0">
              <a:solidFill>
                <a:srgbClr val="00B0F0"/>
              </a:solidFill>
            </a:endParaRP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1. Построение модели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Уравнения баланса (массы, энергии или др.)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Выбранные переменные и параметры (давление, уровень, расход и т.д.)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Предположения и упрощения (стационарность, линейность, отсутствие влияния шумов и т.п.)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2. Метод решения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Численный алгоритм (метод Эйлера, Рунге–Кутты и др.)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Средства реализации (MATLAB/</a:t>
            </a:r>
            <a:r>
              <a:rPr lang="ru-RU" sz="4000" b="1" dirty="0" err="1">
                <a:solidFill>
                  <a:schemeClr val="bg1"/>
                </a:solidFill>
              </a:rPr>
              <a:t>Simulink</a:t>
            </a:r>
            <a:r>
              <a:rPr lang="ru-RU" sz="4000" b="1" dirty="0">
                <a:solidFill>
                  <a:schemeClr val="bg1"/>
                </a:solidFill>
              </a:rPr>
              <a:t>, Python …)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3. Структура модели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Блочная схема расчетов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Входные данные и выходные результаты</a:t>
            </a:r>
          </a:p>
          <a:p>
            <a:pPr algn="just"/>
            <a:r>
              <a:rPr lang="ru-RU" sz="4000" b="1" dirty="0">
                <a:solidFill>
                  <a:schemeClr val="bg1"/>
                </a:solidFill>
              </a:rPr>
              <a:t>Интервал дискретизации и шаг по времени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795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A6984-7397-4B00-B647-EF80C91E8283}"/>
              </a:ext>
            </a:extLst>
          </p:cNvPr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200" b="1" dirty="0">
                <a:solidFill>
                  <a:schemeClr val="bg1"/>
                </a:solidFill>
              </a:rPr>
              <a:t>РЕЗУЛЬТАТЫ МОДЕЛИРОВАНИЯ И ИХ АНАЛИЗ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BD578-FA70-44A3-9D64-C40EB6EE1856}"/>
              </a:ext>
            </a:extLst>
          </p:cNvPr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CFD2-A065-43DB-A303-2DCE37715EAB}"/>
              </a:ext>
            </a:extLst>
          </p:cNvPr>
          <p:cNvSpPr txBox="1"/>
          <p:nvPr/>
        </p:nvSpPr>
        <p:spPr>
          <a:xfrm>
            <a:off x="1733550" y="4127087"/>
            <a:ext cx="20935156" cy="926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6000" b="1" i="1" dirty="0">
                <a:solidFill>
                  <a:srgbClr val="00B0F0"/>
                </a:solidFill>
              </a:rPr>
              <a:t>Блоки седьмого слайда:</a:t>
            </a:r>
          </a:p>
          <a:p>
            <a:pPr algn="just"/>
            <a:endParaRPr lang="ru-RU" sz="6000" b="1" i="1" dirty="0">
              <a:solidFill>
                <a:srgbClr val="00B0F0"/>
              </a:solidFill>
            </a:endParaRP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1. Графики динамики параметров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Изменение давления/уровня/расхода во времени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Сравнение с экспериментальными или эталонными данными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2. Валидация модели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Погрешности и коэффициенты корреляции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Таблица ошибок (MAE, RMSE)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3. Анализ по теории автоматического управления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Влияние ключевых параметров на выход модели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Ступенчатое воздействие: переходная характеристика, время установления, перерегулирование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Импульсное воздействие: импульсная характеристика, затухание колебаний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Запас устойчивости: запасы по амплитуде и фазе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АЧХ и ФЧХ (диаграмма Боде)НЧХ (диаграмма Найквиста)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Корневой график (</a:t>
            </a:r>
            <a:r>
              <a:rPr lang="ru-RU" sz="2800" b="1" dirty="0" err="1">
                <a:solidFill>
                  <a:schemeClr val="bg1"/>
                </a:solidFill>
              </a:rPr>
              <a:t>Root</a:t>
            </a: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err="1">
                <a:solidFill>
                  <a:schemeClr val="bg1"/>
                </a:solidFill>
              </a:rPr>
              <a:t>Locus</a:t>
            </a:r>
            <a:r>
              <a:rPr lang="ru-RU" sz="2800" b="1" dirty="0">
                <a:solidFill>
                  <a:schemeClr val="bg1"/>
                </a:solidFill>
              </a:rPr>
              <a:t>)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Спектральный анализ (если применимо)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4. Выводы по результатам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Насколько модель соответствует реальному процессу</a:t>
            </a:r>
          </a:p>
          <a:p>
            <a:pPr algn="just"/>
            <a:r>
              <a:rPr lang="ru-RU" sz="2800" b="1" dirty="0">
                <a:solidFill>
                  <a:schemeClr val="bg1"/>
                </a:solidFill>
              </a:rPr>
              <a:t>Рекомендации по доработке или применению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07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A6984-7397-4B00-B647-EF80C91E8283}"/>
              </a:ext>
            </a:extLst>
          </p:cNvPr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200" b="1" dirty="0">
                <a:solidFill>
                  <a:schemeClr val="bg1"/>
                </a:solidFill>
              </a:rPr>
              <a:t>ЭКОНОМИЧЕСКАЯ ОЦЕНКА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BD578-FA70-44A3-9D64-C40EB6EE1856}"/>
              </a:ext>
            </a:extLst>
          </p:cNvPr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CFD2-A065-43DB-A303-2DCE37715EAB}"/>
              </a:ext>
            </a:extLst>
          </p:cNvPr>
          <p:cNvSpPr txBox="1"/>
          <p:nvPr/>
        </p:nvSpPr>
        <p:spPr>
          <a:xfrm>
            <a:off x="1733550" y="4127087"/>
            <a:ext cx="20935156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6000" b="1" i="1" dirty="0">
                <a:solidFill>
                  <a:srgbClr val="00B0F0"/>
                </a:solidFill>
              </a:rPr>
              <a:t>Блоки восьмого слайда:  </a:t>
            </a:r>
          </a:p>
          <a:p>
            <a:pPr algn="just"/>
            <a:endParaRPr lang="ru-RU" sz="6000" b="1" i="1" dirty="0">
              <a:solidFill>
                <a:srgbClr val="00B0F0"/>
              </a:solidFill>
            </a:endParaRP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1. Инвестиционные затраты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Стоимость оборудования и ПО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Затраты на разработку и внедрение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2. Эксплуатационные расходы до и после внедрения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Энергопотребление, сырьё, расходные материалы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Трудозатраты на обслуживание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3. Экономический эффект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Сокращение затрат (абсолютное и в % от текущих расходов)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Увеличение производительности или выпуска продукции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4. Финансовые показатели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Чистая приведённая стоимость (NPV)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Индекс доходности (PI)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5. Внутренняя норма доходности (IRR)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Срок окупаемости</a:t>
            </a:r>
          </a:p>
          <a:p>
            <a:pPr algn="just"/>
            <a:r>
              <a:rPr lang="ru-RU" sz="2400" b="1" dirty="0">
                <a:solidFill>
                  <a:schemeClr val="bg1"/>
                </a:solidFill>
              </a:rPr>
              <a:t>Простой срок окупаемости (PBP)</a:t>
            </a:r>
          </a:p>
          <a:p>
            <a:pPr algn="just"/>
            <a:r>
              <a:rPr lang="ru-RU" b="1" dirty="0">
                <a:solidFill>
                  <a:srgbClr val="FF0000"/>
                </a:solidFill>
              </a:rPr>
              <a:t>6. Дисконтированный срок окупаемости (DPBP)</a:t>
            </a:r>
          </a:p>
        </p:txBody>
      </p:sp>
    </p:spTree>
    <p:extLst>
      <p:ext uri="{BB962C8B-B14F-4D97-AF65-F5344CB8AC3E}">
        <p14:creationId xmlns:p14="http://schemas.microsoft.com/office/powerpoint/2010/main" val="4125821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A6984-7397-4B00-B647-EF80C91E8283}"/>
              </a:ext>
            </a:extLst>
          </p:cNvPr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200" b="1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BD578-FA70-44A3-9D64-C40EB6EE1856}"/>
              </a:ext>
            </a:extLst>
          </p:cNvPr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CFD2-A065-43DB-A303-2DCE37715EAB}"/>
              </a:ext>
            </a:extLst>
          </p:cNvPr>
          <p:cNvSpPr txBox="1"/>
          <p:nvPr/>
        </p:nvSpPr>
        <p:spPr>
          <a:xfrm>
            <a:off x="1733550" y="4127087"/>
            <a:ext cx="20935156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6000" b="1" i="1">
                <a:solidFill>
                  <a:srgbClr val="00B0F0"/>
                </a:solidFill>
              </a:rPr>
              <a:t>Блоки заключение:</a:t>
            </a:r>
            <a:endParaRPr lang="ru-RU" sz="6000" b="1" i="1" dirty="0">
              <a:solidFill>
                <a:srgbClr val="00B0F0"/>
              </a:solidFill>
            </a:endParaRPr>
          </a:p>
          <a:p>
            <a:pPr algn="just"/>
            <a:endParaRPr lang="ru-RU" sz="6000" b="1" i="1" dirty="0">
              <a:solidFill>
                <a:srgbClr val="00B0F0"/>
              </a:solidFill>
            </a:endParaRP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1. Научная новизна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Формулировка оригинальных результатов исследования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Вклад в развитие теории автоматического управления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2. Практическая (производственная) значимость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Возможности внедрения в конкретных технологических процессах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Ожидаемое снижение затрат и повышение надёжности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3. Краткие итоги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Достигнутая цель и решённые задачи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Основные результаты проектной и исследовательской частей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4. Ограничения и предположения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Факторы, не учтённые в текущей модели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Условия корректного применения разработанного решения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5. Перспективы дальнейших исследований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Расширение модели за счёт дополнительных параметров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Адаптация алгоритмов под другие технологические объекты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6. Рекомендации по внедрению и сопровождению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Периодичность калибровки и тестирования</a:t>
            </a: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План технического и методического сопровождения</a:t>
            </a:r>
          </a:p>
        </p:txBody>
      </p:sp>
    </p:spTree>
    <p:extLst>
      <p:ext uri="{BB962C8B-B14F-4D97-AF65-F5344CB8AC3E}">
        <p14:creationId xmlns:p14="http://schemas.microsoft.com/office/powerpoint/2010/main" val="1967872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A6984-7397-4B00-B647-EF80C91E8283}"/>
              </a:ext>
            </a:extLst>
          </p:cNvPr>
          <p:cNvSpPr txBox="1"/>
          <p:nvPr/>
        </p:nvSpPr>
        <p:spPr>
          <a:xfrm>
            <a:off x="1390649" y="2152650"/>
            <a:ext cx="216011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200" b="1" dirty="0">
                <a:solidFill>
                  <a:schemeClr val="bg1"/>
                </a:solidFill>
              </a:rPr>
              <a:t>Цифровой двойник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BD578-FA70-44A3-9D64-C40EB6EE1856}"/>
              </a:ext>
            </a:extLst>
          </p:cNvPr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DCFD2-A065-43DB-A303-2DCE37715EAB}"/>
              </a:ext>
            </a:extLst>
          </p:cNvPr>
          <p:cNvSpPr txBox="1"/>
          <p:nvPr/>
        </p:nvSpPr>
        <p:spPr>
          <a:xfrm>
            <a:off x="1733550" y="4953000"/>
            <a:ext cx="20935156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6000" b="1" dirty="0">
                <a:solidFill>
                  <a:srgbClr val="00B0F0"/>
                </a:solidFill>
              </a:rPr>
              <a:t>Цифровой двойник </a:t>
            </a:r>
            <a:r>
              <a:rPr lang="ru-RU" sz="6000" b="1" dirty="0">
                <a:solidFill>
                  <a:schemeClr val="bg1"/>
                </a:solidFill>
              </a:rPr>
              <a:t>– это программный аналог физического объекта, моделирующий внутренние процессы, технические характеристики, свойства и поведение реального объекта в условиях воздействий окружающей среды.</a:t>
            </a:r>
          </a:p>
          <a:p>
            <a:pPr algn="just"/>
            <a:r>
              <a:rPr lang="ru-RU" sz="6000" b="1" dirty="0">
                <a:solidFill>
                  <a:schemeClr val="bg1"/>
                </a:solidFill>
              </a:rPr>
              <a:t>Для задания на него входных воздействий используется информация с датчиков реального устройства, действующего (работающего) параллельно.</a:t>
            </a:r>
            <a:endParaRPr lang="ru-RU" sz="6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87BB8-A4CA-485B-B168-0450EB0EFE89}"/>
              </a:ext>
            </a:extLst>
          </p:cNvPr>
          <p:cNvSpPr txBox="1"/>
          <p:nvPr/>
        </p:nvSpPr>
        <p:spPr>
          <a:xfrm>
            <a:off x="1733550" y="12420407"/>
            <a:ext cx="12962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Michael Grieves. Origins of the Digital Twins Concept, 2016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074" name="Picture 2" descr="scada">
            <a:extLst>
              <a:ext uri="{FF2B5EF4-FFF2-40B4-BE49-F238E27FC236}">
                <a16:creationId xmlns:a16="http://schemas.microsoft.com/office/drawing/2014/main" id="{53E9DFB5-56FB-4C74-836E-FE1C39E3E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023" y="2247900"/>
            <a:ext cx="4857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98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>
          <a:xfrm>
            <a:off x="4170333" y="5918604"/>
            <a:ext cx="16041747" cy="1878793"/>
          </a:xfrm>
        </p:spPr>
        <p:txBody>
          <a:bodyPr anchor="ctr"/>
          <a:lstStyle/>
          <a:p>
            <a:pPr algn="ctr"/>
            <a:r>
              <a:rPr lang="ru-RU" sz="9600" b="1" dirty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12671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5615940" y="5053421"/>
            <a:ext cx="18752027" cy="1603377"/>
          </a:xfrm>
          <a:noFill/>
        </p:spPr>
        <p:txBody>
          <a:bodyPr anchor="ctr"/>
          <a:lstStyle/>
          <a:p>
            <a:r>
              <a:rPr lang="ru-RU" sz="11500" b="1" dirty="0">
                <a:solidFill>
                  <a:schemeClr val="bg2">
                    <a:alpha val="66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 </a:t>
            </a:r>
            <a:r>
              <a:rPr lang="ru-RU" sz="11500" b="1" dirty="0">
                <a:gradFill flip="none" rotWithShape="1">
                  <a:gsLst>
                    <a:gs pos="0">
                      <a:schemeClr val="bg2">
                        <a:shade val="30000"/>
                        <a:satMod val="115000"/>
                        <a:alpha val="0"/>
                      </a:schemeClr>
                    </a:gs>
                    <a:gs pos="50000">
                      <a:schemeClr val="bg2">
                        <a:shade val="67500"/>
                        <a:satMod val="115000"/>
                        <a:alpha val="66000"/>
                      </a:schemeClr>
                    </a:gs>
                    <a:gs pos="100000">
                      <a:schemeClr val="bg2">
                        <a:shade val="100000"/>
                        <a:satMod val="115000"/>
                        <a:alpha val="66000"/>
                      </a:schemeClr>
                    </a:gs>
                  </a:gsLst>
                  <a:lin ang="10800000" scaled="1"/>
                  <a:tileRect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ЯДЕРНАЯ ЭНЕРГ</a:t>
            </a:r>
          </a:p>
        </p:txBody>
      </p:sp>
      <p:sp>
        <p:nvSpPr>
          <p:cNvPr id="3" name="Заголовок 5">
            <a:extLst>
              <a:ext uri="{FF2B5EF4-FFF2-40B4-BE49-F238E27FC236}">
                <a16:creationId xmlns:a16="http://schemas.microsoft.com/office/drawing/2014/main" id="{CF4CD125-D54B-4B4B-8B77-2554E6996D5C}"/>
              </a:ext>
            </a:extLst>
          </p:cNvPr>
          <p:cNvSpPr txBox="1">
            <a:spLocks/>
          </p:cNvSpPr>
          <p:nvPr/>
        </p:nvSpPr>
        <p:spPr>
          <a:xfrm>
            <a:off x="6004561" y="3712923"/>
            <a:ext cx="16795274" cy="16033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1500" b="1" dirty="0">
                <a:solidFill>
                  <a:schemeClr val="bg2">
                    <a:alpha val="4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 </a:t>
            </a:r>
            <a:r>
              <a:rPr lang="ru-RU" sz="11500" b="1" dirty="0">
                <a:gradFill>
                  <a:gsLst>
                    <a:gs pos="0">
                      <a:schemeClr val="bg2">
                        <a:shade val="30000"/>
                        <a:satMod val="115000"/>
                        <a:alpha val="0"/>
                      </a:schemeClr>
                    </a:gs>
                    <a:gs pos="50000">
                      <a:schemeClr val="bg2">
                        <a:shade val="67500"/>
                        <a:satMod val="115000"/>
                        <a:alpha val="66000"/>
                      </a:schemeClr>
                    </a:gs>
                    <a:gs pos="100000">
                      <a:schemeClr val="bg2">
                        <a:shade val="100000"/>
                        <a:satMod val="115000"/>
                        <a:alpha val="45000"/>
                      </a:schemeClr>
                    </a:gs>
                  </a:gsLst>
                  <a:lin ang="10800000" scaled="1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ЭЛЕКТРО и ТЕП </a:t>
            </a:r>
          </a:p>
        </p:txBody>
      </p:sp>
      <p:sp>
        <p:nvSpPr>
          <p:cNvPr id="4" name="Заголовок 5">
            <a:extLst>
              <a:ext uri="{FF2B5EF4-FFF2-40B4-BE49-F238E27FC236}">
                <a16:creationId xmlns:a16="http://schemas.microsoft.com/office/drawing/2014/main" id="{128C5146-8804-4119-B667-7F9D9F37AFED}"/>
              </a:ext>
            </a:extLst>
          </p:cNvPr>
          <p:cNvSpPr txBox="1">
            <a:spLocks/>
          </p:cNvSpPr>
          <p:nvPr/>
        </p:nvSpPr>
        <p:spPr>
          <a:xfrm>
            <a:off x="5067300" y="6393919"/>
            <a:ext cx="17206753" cy="16033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15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15.03.04 </a:t>
            </a:r>
            <a:r>
              <a:rPr lang="ru-RU" sz="11500" b="1" dirty="0">
                <a:gradFill>
                  <a:gsLst>
                    <a:gs pos="0">
                      <a:schemeClr val="bg2">
                        <a:shade val="30000"/>
                        <a:satMod val="115000"/>
                        <a:alpha val="0"/>
                      </a:schemeClr>
                    </a:gs>
                    <a:gs pos="50000">
                      <a:schemeClr val="bg2">
                        <a:shade val="67500"/>
                        <a:satMod val="115000"/>
                      </a:schemeClr>
                    </a:gs>
                    <a:gs pos="100000">
                      <a:schemeClr val="bg2">
                        <a:shade val="100000"/>
                        <a:satMod val="115000"/>
                      </a:schemeClr>
                    </a:gs>
                  </a:gsLst>
                  <a:lin ang="10800000" scaled="1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</a:t>
            </a:r>
          </a:p>
        </p:txBody>
      </p:sp>
      <p:sp>
        <p:nvSpPr>
          <p:cNvPr id="5" name="Заголовок 5">
            <a:extLst>
              <a:ext uri="{FF2B5EF4-FFF2-40B4-BE49-F238E27FC236}">
                <a16:creationId xmlns:a16="http://schemas.microsoft.com/office/drawing/2014/main" id="{C410495F-ABBC-4268-9C3E-8D4AD0673EBD}"/>
              </a:ext>
            </a:extLst>
          </p:cNvPr>
          <p:cNvSpPr txBox="1">
            <a:spLocks/>
          </p:cNvSpPr>
          <p:nvPr/>
        </p:nvSpPr>
        <p:spPr>
          <a:xfrm>
            <a:off x="5615941" y="7734417"/>
            <a:ext cx="18326894" cy="160337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R="0" indent="0" fontAlgn="auto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0" b="1">
                <a:solidFill>
                  <a:schemeClr val="bg2">
                    <a:alpha val="66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>
                <a:gradFill>
                  <a:gsLst>
                    <a:gs pos="0">
                      <a:schemeClr val="bg2">
                        <a:shade val="30000"/>
                        <a:satMod val="115000"/>
                        <a:alpha val="0"/>
                      </a:schemeClr>
                    </a:gs>
                    <a:gs pos="50000">
                      <a:schemeClr val="bg2">
                        <a:shade val="67500"/>
                        <a:satMod val="115000"/>
                        <a:alpha val="11000"/>
                      </a:schemeClr>
                    </a:gs>
                    <a:gs pos="100000">
                      <a:schemeClr val="bg2">
                        <a:shade val="100000"/>
                        <a:satMod val="115000"/>
                        <a:alpha val="66000"/>
                      </a:schemeClr>
                    </a:gs>
                  </a:gsLst>
                  <a:lin ang="10800000" scaled="1"/>
                </a:gradFill>
              </a:rPr>
              <a:t>16</a:t>
            </a:r>
            <a:r>
              <a:rPr lang="ru-RU" dirty="0">
                <a:gradFill>
                  <a:gsLst>
                    <a:gs pos="0">
                      <a:schemeClr val="bg2">
                        <a:shade val="30000"/>
                        <a:satMod val="115000"/>
                        <a:alpha val="0"/>
                      </a:schemeClr>
                    </a:gs>
                    <a:gs pos="50000">
                      <a:schemeClr val="bg2">
                        <a:shade val="67500"/>
                        <a:satMod val="115000"/>
                        <a:alpha val="11000"/>
                      </a:schemeClr>
                    </a:gs>
                    <a:gs pos="100000">
                      <a:schemeClr val="bg2">
                        <a:shade val="100000"/>
                        <a:satMod val="115000"/>
                        <a:alpha val="24000"/>
                      </a:schemeClr>
                    </a:gs>
                  </a:gsLst>
                  <a:lin ang="10800000" scaled="1"/>
                </a:gradFill>
              </a:rPr>
              <a:t> </a:t>
            </a:r>
            <a:r>
              <a:rPr lang="ru-RU" dirty="0">
                <a:gradFill>
                  <a:gsLst>
                    <a:gs pos="0">
                      <a:schemeClr val="bg2">
                        <a:shade val="30000"/>
                        <a:satMod val="115000"/>
                        <a:alpha val="0"/>
                      </a:schemeClr>
                    </a:gs>
                    <a:gs pos="50000">
                      <a:schemeClr val="bg2">
                        <a:shade val="67500"/>
                        <a:satMod val="115000"/>
                        <a:alpha val="66000"/>
                      </a:schemeClr>
                    </a:gs>
                    <a:gs pos="100000">
                      <a:schemeClr val="bg2">
                        <a:shade val="100000"/>
                        <a:satMod val="115000"/>
                        <a:alpha val="66000"/>
                      </a:schemeClr>
                    </a:gs>
                  </a:gsLst>
                  <a:lin ang="10800000" scaled="1"/>
                </a:gradFill>
              </a:rPr>
              <a:t>ФИЗИКО-ТЕХНИ</a:t>
            </a:r>
          </a:p>
        </p:txBody>
      </p:sp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D65B01F2-8B64-4C46-94ED-E96BA7D4581B}"/>
              </a:ext>
            </a:extLst>
          </p:cNvPr>
          <p:cNvSpPr txBox="1">
            <a:spLocks/>
          </p:cNvSpPr>
          <p:nvPr/>
        </p:nvSpPr>
        <p:spPr>
          <a:xfrm>
            <a:off x="6004561" y="9074915"/>
            <a:ext cx="17206754" cy="16033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1500" b="1" dirty="0">
                <a:solidFill>
                  <a:schemeClr val="bg2">
                    <a:alpha val="4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18 </a:t>
            </a:r>
            <a:r>
              <a:rPr lang="ru-RU" sz="11500" b="1" dirty="0">
                <a:gradFill>
                  <a:gsLst>
                    <a:gs pos="0">
                      <a:schemeClr val="bg2">
                        <a:shade val="30000"/>
                        <a:satMod val="115000"/>
                        <a:alpha val="0"/>
                      </a:schemeClr>
                    </a:gs>
                    <a:gs pos="50000">
                      <a:schemeClr val="bg2">
                        <a:shade val="67500"/>
                        <a:satMod val="115000"/>
                        <a:alpha val="45000"/>
                      </a:schemeClr>
                    </a:gs>
                    <a:gs pos="100000">
                      <a:schemeClr val="bg2">
                        <a:shade val="100000"/>
                        <a:satMod val="115000"/>
                        <a:alpha val="45000"/>
                      </a:schemeClr>
                    </a:gs>
                  </a:gsLst>
                  <a:lin ang="10800000" scaled="1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ХИМИЧЕСКИЕ</a:t>
            </a:r>
          </a:p>
        </p:txBody>
      </p:sp>
      <p:sp>
        <p:nvSpPr>
          <p:cNvPr id="8" name="Заголовок 5">
            <a:extLst>
              <a:ext uri="{FF2B5EF4-FFF2-40B4-BE49-F238E27FC236}">
                <a16:creationId xmlns:a16="http://schemas.microsoft.com/office/drawing/2014/main" id="{2ACD1825-6435-49D0-8524-D74094197264}"/>
              </a:ext>
            </a:extLst>
          </p:cNvPr>
          <p:cNvSpPr txBox="1">
            <a:spLocks/>
          </p:cNvSpPr>
          <p:nvPr/>
        </p:nvSpPr>
        <p:spPr>
          <a:xfrm>
            <a:off x="6324601" y="10415413"/>
            <a:ext cx="16475234" cy="16033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1500" b="1" dirty="0">
                <a:solidFill>
                  <a:schemeClr val="bg2">
                    <a:alpha val="24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 </a:t>
            </a:r>
            <a:r>
              <a:rPr lang="ru-RU" sz="11500" b="1" dirty="0">
                <a:gradFill>
                  <a:gsLst>
                    <a:gs pos="0">
                      <a:schemeClr val="bg2">
                        <a:shade val="30000"/>
                        <a:satMod val="115000"/>
                        <a:alpha val="0"/>
                      </a:schemeClr>
                    </a:gs>
                    <a:gs pos="50000">
                      <a:schemeClr val="bg2">
                        <a:shade val="67500"/>
                        <a:satMod val="115000"/>
                        <a:alpha val="11000"/>
                      </a:schemeClr>
                    </a:gs>
                    <a:gs pos="100000">
                      <a:schemeClr val="bg2">
                        <a:shade val="100000"/>
                        <a:satMod val="115000"/>
                        <a:alpha val="24000"/>
                      </a:schemeClr>
                    </a:gs>
                  </a:gsLst>
                  <a:lin ang="10800000" scaled="1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ПРОМЫШЛЕ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3B7FB04E-6721-444C-8747-40054A1CC309}"/>
              </a:ext>
            </a:extLst>
          </p:cNvPr>
          <p:cNvSpPr txBox="1">
            <a:spLocks/>
          </p:cNvSpPr>
          <p:nvPr/>
        </p:nvSpPr>
        <p:spPr>
          <a:xfrm>
            <a:off x="6324601" y="2372424"/>
            <a:ext cx="12573000" cy="16033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1500" b="1" dirty="0">
                <a:solidFill>
                  <a:schemeClr val="bg2">
                    <a:alpha val="24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 </a:t>
            </a:r>
            <a:r>
              <a:rPr lang="ru-RU" sz="11500" b="1" dirty="0">
                <a:gradFill>
                  <a:gsLst>
                    <a:gs pos="0">
                      <a:schemeClr val="bg2">
                        <a:shade val="30000"/>
                        <a:satMod val="115000"/>
                        <a:alpha val="0"/>
                      </a:schemeClr>
                    </a:gs>
                    <a:gs pos="50000">
                      <a:schemeClr val="bg2">
                        <a:shade val="67500"/>
                        <a:satMod val="115000"/>
                        <a:alpha val="11000"/>
                      </a:schemeClr>
                    </a:gs>
                    <a:gs pos="100000">
                      <a:schemeClr val="bg2">
                        <a:shade val="100000"/>
                        <a:satMod val="115000"/>
                        <a:alpha val="24000"/>
                      </a:schemeClr>
                    </a:gs>
                  </a:gsLst>
                  <a:lin ang="10800000" scaled="1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ФОТОНИКА</a:t>
            </a:r>
            <a:r>
              <a:rPr lang="ru-RU" sz="11500" b="1" dirty="0">
                <a:solidFill>
                  <a:schemeClr val="bg2">
                    <a:alpha val="24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249828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b046ea12b569ac8bf86d82b576cb1034ccd2f"/>
</p:tagLst>
</file>

<file path=ppt/theme/theme1.xml><?xml version="1.0" encoding="utf-8"?>
<a:theme xmlns:a="http://schemas.openxmlformats.org/drawingml/2006/main" name="Misis">
  <a:themeElements>
    <a:clrScheme name="MISIS">
      <a:dk1>
        <a:sysClr val="windowText" lastClr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MISIS_ppt">
      <a:majorFont>
        <a:latin typeface="Nekst Semi Bold"/>
        <a:ea typeface=""/>
        <a:cs typeface=""/>
      </a:majorFont>
      <a:minorFont>
        <a:latin typeface="TT Norms Pro Medium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1605</TotalTime>
  <Words>838</Words>
  <Application>Microsoft Office PowerPoint</Application>
  <PresentationFormat>Произвольный</PresentationFormat>
  <Paragraphs>155</Paragraphs>
  <Slides>13</Slides>
  <Notes>2</Notes>
  <HiddenSlides>2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Tahoma</vt:lpstr>
      <vt:lpstr>Calibri</vt:lpstr>
      <vt:lpstr>TT Norms Pro Medium</vt:lpstr>
      <vt:lpstr>Nekst Semi Bold</vt:lpstr>
      <vt:lpstr>TT Norms Pro</vt:lpstr>
      <vt:lpstr>Misis</vt:lpstr>
      <vt:lpstr>V-МОЛОДЕЖНАЯ НАУЧНО-ПРАКТИЧЕСКАЯ КОНФЕРЕНЦИЯ «НАУКА И МОЛОДЕЖЬ – 2025» 15-16 апреля 2025 г.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14 ЯДЕРНАЯ ЭНЕРГ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u.mamanazarov@misis.uz</dc:creator>
  <cp:lastModifiedBy>adb</cp:lastModifiedBy>
  <cp:revision>244</cp:revision>
  <dcterms:created xsi:type="dcterms:W3CDTF">2022-07-26T11:52:44Z</dcterms:created>
  <dcterms:modified xsi:type="dcterms:W3CDTF">2025-05-28T15:00:15Z</dcterms:modified>
</cp:coreProperties>
</file>